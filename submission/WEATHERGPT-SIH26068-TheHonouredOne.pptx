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7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E21E5-A8F8-4991-B05F-312048C3F755}" v="2" dt="2026-09-09T06:30:34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Bisht" userId="edac3416a2065902" providerId="LiveId" clId="{DA7404A6-D240-4157-8101-AA457A64DFD5}"/>
    <pc:docChg chg="undo custSel delSld modSld">
      <pc:chgData name="Dhruv Bisht" userId="edac3416a2065902" providerId="LiveId" clId="{DA7404A6-D240-4157-8101-AA457A64DFD5}" dt="2026-09-09T06:38:22.046" v="297" actId="14100"/>
      <pc:docMkLst>
        <pc:docMk/>
      </pc:docMkLst>
      <pc:sldChg chg="addSp modSp mod">
        <pc:chgData name="Dhruv Bisht" userId="edac3416a2065902" providerId="LiveId" clId="{DA7404A6-D240-4157-8101-AA457A64DFD5}" dt="2026-09-09T06:12:05.334" v="162" actId="14100"/>
        <pc:sldMkLst>
          <pc:docMk/>
          <pc:sldMk cId="0" sldId="290"/>
        </pc:sldMkLst>
        <pc:spChg chg="add mod">
          <ac:chgData name="Dhruv Bisht" userId="edac3416a2065902" providerId="LiveId" clId="{DA7404A6-D240-4157-8101-AA457A64DFD5}" dt="2026-09-09T06:12:00.366" v="161" actId="1076"/>
          <ac:spMkLst>
            <pc:docMk/>
            <pc:sldMk cId="0" sldId="290"/>
            <ac:spMk id="2" creationId="{DCD5EA42-6CFA-F5CA-842A-B64C33DB11AE}"/>
          </ac:spMkLst>
        </pc:spChg>
        <pc:spChg chg="mod">
          <ac:chgData name="Dhruv Bisht" userId="edac3416a2065902" providerId="LiveId" clId="{DA7404A6-D240-4157-8101-AA457A64DFD5}" dt="2026-09-09T05:47:54.598" v="3" actId="403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Dhruv Bisht" userId="edac3416a2065902" providerId="LiveId" clId="{DA7404A6-D240-4157-8101-AA457A64DFD5}" dt="2026-09-09T06:12:05.334" v="162" actId="14100"/>
          <ac:picMkLst>
            <pc:docMk/>
            <pc:sldMk cId="0" sldId="290"/>
            <ac:picMk id="16" creationId="{B516B0AD-85C0-0C16-5898-4918CAD695E8}"/>
          </ac:picMkLst>
        </pc:picChg>
      </pc:sldChg>
      <pc:sldChg chg="modSp mod">
        <pc:chgData name="Dhruv Bisht" userId="edac3416a2065902" providerId="LiveId" clId="{DA7404A6-D240-4157-8101-AA457A64DFD5}" dt="2026-09-09T06:37:58.876" v="295" actId="20577"/>
        <pc:sldMkLst>
          <pc:docMk/>
          <pc:sldMk cId="0" sldId="291"/>
        </pc:sldMkLst>
        <pc:spChg chg="mod">
          <ac:chgData name="Dhruv Bisht" userId="edac3416a2065902" providerId="LiveId" clId="{DA7404A6-D240-4157-8101-AA457A64DFD5}" dt="2026-09-09T06:37:58.876" v="295" actId="20577"/>
          <ac:spMkLst>
            <pc:docMk/>
            <pc:sldMk cId="0" sldId="291"/>
            <ac:spMk id="4" creationId="{00000000-0000-0000-0000-000000000000}"/>
          </ac:spMkLst>
        </pc:spChg>
        <pc:spChg chg="mod">
          <ac:chgData name="Dhruv Bisht" userId="edac3416a2065902" providerId="LiveId" clId="{DA7404A6-D240-4157-8101-AA457A64DFD5}" dt="2026-09-09T06:15:25.887" v="197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Dhruv Bisht" userId="edac3416a2065902" providerId="LiveId" clId="{DA7404A6-D240-4157-8101-AA457A64DFD5}" dt="2026-09-09T05:55:52.726" v="50" actId="1076"/>
        <pc:sldMkLst>
          <pc:docMk/>
          <pc:sldMk cId="3753387913" sldId="293"/>
        </pc:sldMkLst>
        <pc:spChg chg="add mod">
          <ac:chgData name="Dhruv Bisht" userId="edac3416a2065902" providerId="LiveId" clId="{DA7404A6-D240-4157-8101-AA457A64DFD5}" dt="2026-09-09T05:55:40.826" v="46" actId="1076"/>
          <ac:spMkLst>
            <pc:docMk/>
            <pc:sldMk cId="3753387913" sldId="293"/>
            <ac:spMk id="5" creationId="{99C59E8A-B473-0215-566B-A5AB57DBAB36}"/>
          </ac:spMkLst>
        </pc:spChg>
        <pc:spChg chg="add mod">
          <ac:chgData name="Dhruv Bisht" userId="edac3416a2065902" providerId="LiveId" clId="{DA7404A6-D240-4157-8101-AA457A64DFD5}" dt="2026-09-09T05:55:44.051" v="47" actId="1076"/>
          <ac:spMkLst>
            <pc:docMk/>
            <pc:sldMk cId="3753387913" sldId="293"/>
            <ac:spMk id="9" creationId="{4394A437-B339-670A-2ECE-66E96E09F1A2}"/>
          </ac:spMkLst>
        </pc:spChg>
        <pc:spChg chg="del">
          <ac:chgData name="Dhruv Bisht" userId="edac3416a2065902" providerId="LiveId" clId="{DA7404A6-D240-4157-8101-AA457A64DFD5}" dt="2026-09-09T05:51:24.176" v="15" actId="478"/>
          <ac:spMkLst>
            <pc:docMk/>
            <pc:sldMk cId="3753387913" sldId="293"/>
            <ac:spMk id="10" creationId="{AD4F69D3-EEB0-4C4C-9434-B9960FB5854C}"/>
          </ac:spMkLst>
        </pc:spChg>
        <pc:spChg chg="add mod">
          <ac:chgData name="Dhruv Bisht" userId="edac3416a2065902" providerId="LiveId" clId="{DA7404A6-D240-4157-8101-AA457A64DFD5}" dt="2026-09-09T05:55:49.976" v="49" actId="1076"/>
          <ac:spMkLst>
            <pc:docMk/>
            <pc:sldMk cId="3753387913" sldId="293"/>
            <ac:spMk id="15" creationId="{0C09BFB1-A7F5-AE35-E759-6AD0DFA38B23}"/>
          </ac:spMkLst>
        </pc:spChg>
        <pc:spChg chg="del mod">
          <ac:chgData name="Dhruv Bisht" userId="edac3416a2065902" providerId="LiveId" clId="{DA7404A6-D240-4157-8101-AA457A64DFD5}" dt="2026-09-09T05:51:02.015" v="11" actId="478"/>
          <ac:spMkLst>
            <pc:docMk/>
            <pc:sldMk cId="3753387913" sldId="293"/>
            <ac:spMk id="17410" creationId="{00000000-0000-0000-0000-000000000000}"/>
          </ac:spMkLst>
        </pc:spChg>
        <pc:picChg chg="add mod">
          <ac:chgData name="Dhruv Bisht" userId="edac3416a2065902" providerId="LiveId" clId="{DA7404A6-D240-4157-8101-AA457A64DFD5}" dt="2026-09-09T05:52:52.992" v="27" actId="1076"/>
          <ac:picMkLst>
            <pc:docMk/>
            <pc:sldMk cId="3753387913" sldId="293"/>
            <ac:picMk id="2" creationId="{D107DCDB-80E1-89EA-76B1-5CDE71309756}"/>
          </ac:picMkLst>
        </pc:picChg>
        <pc:picChg chg="add mod">
          <ac:chgData name="Dhruv Bisht" userId="edac3416a2065902" providerId="LiveId" clId="{DA7404A6-D240-4157-8101-AA457A64DFD5}" dt="2026-09-09T05:55:46.277" v="48" actId="1076"/>
          <ac:picMkLst>
            <pc:docMk/>
            <pc:sldMk cId="3753387913" sldId="293"/>
            <ac:picMk id="12" creationId="{8AFAE141-1DDD-7708-DBB5-5404F98510D0}"/>
          </ac:picMkLst>
        </pc:picChg>
        <pc:picChg chg="add mod">
          <ac:chgData name="Dhruv Bisht" userId="edac3416a2065902" providerId="LiveId" clId="{DA7404A6-D240-4157-8101-AA457A64DFD5}" dt="2026-09-09T05:55:52.726" v="50" actId="1076"/>
          <ac:picMkLst>
            <pc:docMk/>
            <pc:sldMk cId="3753387913" sldId="293"/>
            <ac:picMk id="13" creationId="{1C68F5BF-88C1-8793-3931-0EA3F50F677A}"/>
          </ac:picMkLst>
        </pc:picChg>
      </pc:sldChg>
      <pc:sldChg chg="addSp delSp modSp mod">
        <pc:chgData name="Dhruv Bisht" userId="edac3416a2065902" providerId="LiveId" clId="{DA7404A6-D240-4157-8101-AA457A64DFD5}" dt="2026-09-09T06:38:22.046" v="297" actId="14100"/>
        <pc:sldMkLst>
          <pc:docMk/>
          <pc:sldMk cId="2997144140" sldId="294"/>
        </pc:sldMkLst>
        <pc:spChg chg="add mod">
          <ac:chgData name="Dhruv Bisht" userId="edac3416a2065902" providerId="LiveId" clId="{DA7404A6-D240-4157-8101-AA457A64DFD5}" dt="2026-09-09T06:32:11.783" v="228" actId="403"/>
          <ac:spMkLst>
            <pc:docMk/>
            <pc:sldMk cId="2997144140" sldId="294"/>
            <ac:spMk id="3" creationId="{56BECC21-9AA7-50E4-F670-BB4D3939D2B7}"/>
          </ac:spMkLst>
        </pc:spChg>
        <pc:spChg chg="del">
          <ac:chgData name="Dhruv Bisht" userId="edac3416a2065902" providerId="LiveId" clId="{DA7404A6-D240-4157-8101-AA457A64DFD5}" dt="2026-09-09T05:57:42.982" v="65" actId="478"/>
          <ac:spMkLst>
            <pc:docMk/>
            <pc:sldMk cId="2997144140" sldId="294"/>
            <ac:spMk id="10" creationId="{AD4F69D3-EEB0-4C4C-9434-B9960FB5854C}"/>
          </ac:spMkLst>
        </pc:spChg>
        <pc:spChg chg="add del mod">
          <ac:chgData name="Dhruv Bisht" userId="edac3416a2065902" providerId="LiveId" clId="{DA7404A6-D240-4157-8101-AA457A64DFD5}" dt="2026-09-09T06:30:39.534" v="214"/>
          <ac:spMkLst>
            <pc:docMk/>
            <pc:sldMk cId="2997144140" sldId="294"/>
            <ac:spMk id="14" creationId="{1982ED5B-7F90-01E0-0618-0CD2867FD422}"/>
          </ac:spMkLst>
        </pc:spChg>
        <pc:spChg chg="add del mod">
          <ac:chgData name="Dhruv Bisht" userId="edac3416a2065902" providerId="LiveId" clId="{DA7404A6-D240-4157-8101-AA457A64DFD5}" dt="2026-09-09T06:30:39.534" v="212" actId="478"/>
          <ac:spMkLst>
            <pc:docMk/>
            <pc:sldMk cId="2997144140" sldId="294"/>
            <ac:spMk id="16" creationId="{97422969-3E95-2F8C-46C4-3F935A4D7623}"/>
          </ac:spMkLst>
        </pc:spChg>
        <pc:spChg chg="add mod">
          <ac:chgData name="Dhruv Bisht" userId="edac3416a2065902" providerId="LiveId" clId="{DA7404A6-D240-4157-8101-AA457A64DFD5}" dt="2026-09-09T06:33:45.086" v="293" actId="14100"/>
          <ac:spMkLst>
            <pc:docMk/>
            <pc:sldMk cId="2997144140" sldId="294"/>
            <ac:spMk id="17" creationId="{861BB77C-F8DE-4939-9C77-6F77770E49D2}"/>
          </ac:spMkLst>
        </pc:spChg>
        <pc:spChg chg="del">
          <ac:chgData name="Dhruv Bisht" userId="edac3416a2065902" providerId="LiveId" clId="{DA7404A6-D240-4157-8101-AA457A64DFD5}" dt="2026-09-09T05:57:25.340" v="53" actId="478"/>
          <ac:spMkLst>
            <pc:docMk/>
            <pc:sldMk cId="2997144140" sldId="294"/>
            <ac:spMk id="17410" creationId="{00000000-0000-0000-0000-000000000000}"/>
          </ac:spMkLst>
        </pc:spChg>
        <pc:picChg chg="add mod modCrop">
          <ac:chgData name="Dhruv Bisht" userId="edac3416a2065902" providerId="LiveId" clId="{DA7404A6-D240-4157-8101-AA457A64DFD5}" dt="2026-09-09T06:38:22.046" v="297" actId="14100"/>
          <ac:picMkLst>
            <pc:docMk/>
            <pc:sldMk cId="2997144140" sldId="294"/>
            <ac:picMk id="8" creationId="{17D25E67-A7FE-22F1-2216-3E3C3A214F29}"/>
          </ac:picMkLst>
        </pc:picChg>
        <pc:picChg chg="add del mod modCrop">
          <ac:chgData name="Dhruv Bisht" userId="edac3416a2065902" providerId="LiveId" clId="{DA7404A6-D240-4157-8101-AA457A64DFD5}" dt="2026-09-09T06:29:04.180" v="199" actId="478"/>
          <ac:picMkLst>
            <pc:docMk/>
            <pc:sldMk cId="2997144140" sldId="294"/>
            <ac:picMk id="12" creationId="{B07D6A2F-6353-2C1C-8ABF-384CA5B1516A}"/>
          </ac:picMkLst>
        </pc:picChg>
      </pc:sldChg>
      <pc:sldChg chg="addSp delSp modSp mod">
        <pc:chgData name="Dhruv Bisht" userId="edac3416a2065902" providerId="LiveId" clId="{DA7404A6-D240-4157-8101-AA457A64DFD5}" dt="2026-09-09T06:20:21.487" v="198" actId="20577"/>
        <pc:sldMkLst>
          <pc:docMk/>
          <pc:sldMk cId="3916788613" sldId="296"/>
        </pc:sldMkLst>
        <pc:spChg chg="add mod">
          <ac:chgData name="Dhruv Bisht" userId="edac3416a2065902" providerId="LiveId" clId="{DA7404A6-D240-4157-8101-AA457A64DFD5}" dt="2026-09-09T06:20:21.487" v="198" actId="20577"/>
          <ac:spMkLst>
            <pc:docMk/>
            <pc:sldMk cId="3916788613" sldId="296"/>
            <ac:spMk id="3" creationId="{7DC07CEC-7523-B2ED-4B89-A5290795D9B9}"/>
          </ac:spMkLst>
        </pc:spChg>
        <pc:spChg chg="del">
          <ac:chgData name="Dhruv Bisht" userId="edac3416a2065902" providerId="LiveId" clId="{DA7404A6-D240-4157-8101-AA457A64DFD5}" dt="2026-09-09T06:05:41.750" v="111" actId="478"/>
          <ac:spMkLst>
            <pc:docMk/>
            <pc:sldMk cId="3916788613" sldId="296"/>
            <ac:spMk id="10" creationId="{AD4F69D3-EEB0-4C4C-9434-B9960FB5854C}"/>
          </ac:spMkLst>
        </pc:spChg>
        <pc:spChg chg="del">
          <ac:chgData name="Dhruv Bisht" userId="edac3416a2065902" providerId="LiveId" clId="{DA7404A6-D240-4157-8101-AA457A64DFD5}" dt="2026-09-09T06:05:20.918" v="99" actId="478"/>
          <ac:spMkLst>
            <pc:docMk/>
            <pc:sldMk cId="3916788613" sldId="296"/>
            <ac:spMk id="17410" creationId="{00000000-0000-0000-0000-000000000000}"/>
          </ac:spMkLst>
        </pc:spChg>
      </pc:sldChg>
      <pc:sldChg chg="del">
        <pc:chgData name="Dhruv Bisht" userId="edac3416a2065902" providerId="LiveId" clId="{DA7404A6-D240-4157-8101-AA457A64DFD5}" dt="2026-09-09T06:04:23.213" v="98" actId="47"/>
        <pc:sldMkLst>
          <pc:docMk/>
          <pc:sldMk cId="158808441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C6F1-36B1-E918-0DFE-89607366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873D654-009A-DA51-8D8A-24F34C416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4C2BFA7-86FD-A504-270A-5C76E1973A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BE19AF7-FF8E-5BAF-9273-A3370049F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851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91120" y="2328278"/>
            <a:ext cx="2498834" cy="2672569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44689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WeatherGPT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465" y="1345017"/>
            <a:ext cx="7251589" cy="5302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000" b="1" dirty="0"/>
              <a:t>SIH26068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2000" b="1" dirty="0" err="1"/>
              <a:t>WeatherGPT</a:t>
            </a:r>
            <a:r>
              <a:rPr lang="en-IN" sz="2000" b="1" dirty="0"/>
              <a:t>: Conversational AI for Weather Forecasting, Alerts and Climate Information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TheHonouredOne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4328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WeatherGPT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" y="1014850"/>
            <a:ext cx="7405006" cy="615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Detailed Explanation:</a:t>
            </a:r>
            <a:r>
              <a:rPr lang="en-IN" dirty="0"/>
              <a:t> A multilingual, voice-enabled conversational AI that general public. provides personalized, actionable weather intelligence for farmers, </a:t>
            </a:r>
            <a:r>
              <a:rPr lang="en-IN" dirty="0" err="1"/>
              <a:t>travelers</a:t>
            </a:r>
            <a:r>
              <a:rPr lang="en-IN" dirty="0"/>
              <a:t>, disaster stakeholders and the general public.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How it Addresses the Problem:</a:t>
            </a:r>
            <a:r>
              <a:rPr lang="en-IN" dirty="0"/>
              <a:t> Delivers specific, actionable insights directly to rural and general users without them needing to navigate complex weather charts.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Innovation &amp; Core Features:</a:t>
            </a:r>
            <a:endParaRPr lang="en-IN" dirty="0"/>
          </a:p>
          <a:p>
            <a:pPr lvl="1"/>
            <a:r>
              <a:rPr lang="en-IN" b="1" dirty="0"/>
              <a:t>Farmer Profile :</a:t>
            </a:r>
            <a:r>
              <a:rPr lang="en-IN" dirty="0"/>
              <a:t> Dedicated dashboard tracking specific crop, field location and sowing date for personalized advice. </a:t>
            </a:r>
          </a:p>
          <a:p>
            <a:pPr lvl="1"/>
            <a:r>
              <a:rPr lang="en-IN" b="1" dirty="0"/>
              <a:t>Crop Risk Index :</a:t>
            </a:r>
            <a:r>
              <a:rPr lang="en-IN" dirty="0"/>
              <a:t> Calculates risk using a 0-100 risk score using temperature, soil moisture, crop growth stage, weather-linked disease suitability and historical anomalies.</a:t>
            </a:r>
          </a:p>
          <a:p>
            <a:pPr lvl="1"/>
            <a:r>
              <a:rPr lang="en-IN" b="1" dirty="0"/>
              <a:t>Trend-Informed Advisory: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multi-year historical data to advise on seasonal shifts (</a:t>
            </a:r>
            <a:r>
              <a:rPr lang="en-IN" dirty="0" err="1"/>
              <a:t>e.g</a:t>
            </a:r>
            <a:r>
              <a:rPr lang="en-IN" dirty="0"/>
              <a:t> - delaying sowing due to monsoon trends). </a:t>
            </a:r>
          </a:p>
          <a:p>
            <a:pPr lvl="1"/>
            <a:r>
              <a:rPr lang="en-IN" b="1" dirty="0"/>
              <a:t>Disaster Management :</a:t>
            </a:r>
            <a:r>
              <a:rPr lang="en-IN" dirty="0"/>
              <a:t> Proactive background alerts for extreme weather, featuring an "Active Emergency Mode" with verified helplines. </a:t>
            </a:r>
          </a:p>
          <a:p>
            <a:pPr lvl="1"/>
            <a:r>
              <a:rPr lang="en-IN" b="1" dirty="0"/>
              <a:t>Trip Planner :</a:t>
            </a:r>
            <a:r>
              <a:rPr lang="en-IN" dirty="0"/>
              <a:t> Synthesizes weather data to generate a day-by-day guide for </a:t>
            </a:r>
            <a:r>
              <a:rPr lang="en-IN" dirty="0" err="1"/>
              <a:t>travelers</a:t>
            </a:r>
            <a:r>
              <a:rPr lang="en-IN" dirty="0"/>
              <a:t> helping them plan their next trip.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DD9D861B-02A0-8431-5C68-427129C714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76169"/>
            <a:ext cx="1888641" cy="8834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</a:t>
            </a:r>
          </a:p>
          <a:p>
            <a:pPr algn="ctr"/>
            <a:r>
              <a:rPr lang="en-IN" dirty="0"/>
              <a:t>Honoured</a:t>
            </a:r>
          </a:p>
          <a:p>
            <a:pPr algn="ctr"/>
            <a:r>
              <a:rPr lang="en-IN" dirty="0"/>
              <a:t>One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DEE87D-DF04-1BC9-6F5C-5A09DD9B3C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51" t="31579" b="18492"/>
          <a:stretch>
            <a:fillRect/>
          </a:stretch>
        </p:blipFill>
        <p:spPr>
          <a:xfrm>
            <a:off x="7147420" y="3935186"/>
            <a:ext cx="4998066" cy="2658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83E0C3-F244-BFF7-3A51-C656FDD19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7853" y="1178968"/>
            <a:ext cx="3614547" cy="27562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38132" y="811171"/>
            <a:ext cx="6809956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IN" sz="2000" b="1" dirty="0"/>
          </a:p>
          <a:p>
            <a:r>
              <a:rPr lang="en-IN" sz="2000" b="1" dirty="0"/>
              <a:t>Tech Stack: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React, Tailwind CSS, PWA (Web Speech API, </a:t>
            </a:r>
            <a:r>
              <a:rPr lang="en-IN" sz="1600" dirty="0" err="1"/>
              <a:t>IndexedDB</a:t>
            </a:r>
            <a:r>
              <a:rPr lang="en-IN" sz="1600" dirty="0"/>
              <a:t>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Python (</a:t>
            </a:r>
            <a:r>
              <a:rPr lang="en-IN" sz="1600" dirty="0" err="1"/>
              <a:t>FastAPI</a:t>
            </a:r>
            <a:r>
              <a:rPr lang="en-IN" sz="1600" dirty="0"/>
              <a:t>), PostgreSQL, </a:t>
            </a:r>
            <a:r>
              <a:rPr lang="en-IN" sz="1600" dirty="0" err="1"/>
              <a:t>APScheduler</a:t>
            </a:r>
            <a:r>
              <a:rPr lang="en-IN" sz="1600" dirty="0"/>
              <a:t> (scheduled background jobs).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 &amp; Data:</a:t>
            </a:r>
            <a:r>
              <a:rPr lang="en-IN" sz="1600" dirty="0"/>
              <a:t> Gemini Flash + </a:t>
            </a:r>
            <a:r>
              <a:rPr lang="en-IN" sz="1600" dirty="0" err="1"/>
              <a:t>Groq</a:t>
            </a:r>
            <a:r>
              <a:rPr lang="en-IN" sz="1600" dirty="0"/>
              <a:t> fallback (LLM), WeatherAPI.com (Primary), Open-</a:t>
            </a:r>
            <a:r>
              <a:rPr lang="en-IN" sz="1600" dirty="0" err="1"/>
              <a:t>Meteo</a:t>
            </a:r>
            <a:r>
              <a:rPr lang="en-IN" sz="1600" dirty="0"/>
              <a:t> (Fallback), IMD alerts/public data.</a:t>
            </a:r>
          </a:p>
          <a:p>
            <a:pPr lvl="0"/>
            <a:r>
              <a:rPr lang="en-IN" sz="2000" b="1" dirty="0"/>
              <a:t>Implementation Methodology &amp; System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Grounding Assembler:</a:t>
            </a:r>
            <a:r>
              <a:rPr lang="en-IN" sz="1600" dirty="0"/>
              <a:t> To prevent fake AI answers (hallucinations), the AI is forced to read only from verified fetched data before generating a response.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Smart Routing:</a:t>
            </a:r>
            <a:r>
              <a:rPr lang="en-IN" sz="1600" dirty="0"/>
              <a:t> A fast-path handles simple queries directly to save time, while complex queries use AI for intent extraction.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Reliable Data Fetching (Degradation Ladder):</a:t>
            </a:r>
            <a:r>
              <a:rPr lang="en-IN" sz="1600" dirty="0"/>
              <a:t> If exact district data is missing, the system automatically steps down to regional data rather than failing completely.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Offline Accessibility:</a:t>
            </a:r>
            <a:r>
              <a:rPr lang="en-IN" sz="1600" dirty="0"/>
              <a:t> Caches recent weather pulls locally (PostgreSQL/Redis) to speed up responses, laying the groundwork for a full offline PWA.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Multilingual Engine:</a:t>
            </a:r>
            <a:r>
              <a:rPr lang="en-IN" sz="1600" dirty="0"/>
              <a:t> Uses </a:t>
            </a:r>
            <a:r>
              <a:rPr lang="en-IN" sz="1600" dirty="0" err="1"/>
              <a:t>langdetect</a:t>
            </a:r>
            <a:r>
              <a:rPr lang="en-IN" sz="1600" dirty="0"/>
              <a:t> and the LLM to instantly translate regional voice queries into backend data requests, and then synthesizes the grounded answer back into the user's local language.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Intent Extraction &amp; Geocoding</a:t>
            </a:r>
            <a:r>
              <a:rPr lang="en-IN" sz="1600" dirty="0"/>
              <a:t>: For complex queries, the system extracts the location, date range, and specific feature intent. Locations are resolved locally via a 500-city static lookup table before querying external map APIs.</a:t>
            </a:r>
            <a:endParaRPr lang="en-IN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F305B14D-C1CF-37F6-F82E-B69D1FAE5E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51002"/>
            <a:ext cx="1888641" cy="90857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</a:t>
            </a:r>
          </a:p>
          <a:p>
            <a:pPr algn="ctr"/>
            <a:r>
              <a:rPr lang="en-IN" dirty="0"/>
              <a:t>Honoured</a:t>
            </a:r>
          </a:p>
          <a:p>
            <a:pPr algn="ctr"/>
            <a:r>
              <a:rPr lang="en-IN" dirty="0"/>
              <a:t>One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16B0AD-85C0-0C16-5898-4918CAD695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65" t="8002" r="12027" b="16520"/>
          <a:stretch>
            <a:fillRect/>
          </a:stretch>
        </p:blipFill>
        <p:spPr>
          <a:xfrm>
            <a:off x="7575260" y="1444106"/>
            <a:ext cx="4060272" cy="53032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D5EA42-6CFA-F5CA-842A-B64C33DB11AE}"/>
              </a:ext>
            </a:extLst>
          </p:cNvPr>
          <p:cNvSpPr txBox="1"/>
          <p:nvPr/>
        </p:nvSpPr>
        <p:spPr>
          <a:xfrm>
            <a:off x="7563963" y="1109110"/>
            <a:ext cx="2495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End to end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12DD-02FB-B025-7B98-D29E3641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C9F55874-8122-07E2-A94E-21B8E02D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17EA-CA39-F2A2-2CE8-429E0FBF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FC4A0D-03B9-36E5-8105-478C3FEF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438E12-5F76-2CB8-F5C9-8852CEF84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5F4FE5E-0583-C9C0-81DA-C797EE1DAD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8864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</a:t>
            </a:r>
          </a:p>
          <a:p>
            <a:pPr algn="ctr"/>
            <a:r>
              <a:rPr lang="en-IN" dirty="0"/>
              <a:t>Honoured</a:t>
            </a:r>
          </a:p>
          <a:p>
            <a:pPr algn="ctr"/>
            <a:r>
              <a:rPr lang="en-IN" dirty="0"/>
              <a:t>One</a:t>
            </a:r>
          </a:p>
        </p:txBody>
      </p: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69E8AFF2-4DEA-3A64-EF05-4E770FBC9790}"/>
              </a:ext>
            </a:extLst>
          </p:cNvPr>
          <p:cNvSpPr/>
          <p:nvPr/>
        </p:nvSpPr>
        <p:spPr>
          <a:xfrm>
            <a:off x="420624" y="1572768"/>
            <a:ext cx="3310128" cy="4517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75CE4-52D1-82DB-B4B8-DB06F8AE401F}"/>
              </a:ext>
            </a:extLst>
          </p:cNvPr>
          <p:cNvSpPr txBox="1"/>
          <p:nvPr/>
        </p:nvSpPr>
        <p:spPr>
          <a:xfrm>
            <a:off x="658368" y="1856231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93F6F"/>
                </a:solidFill>
                <a:latin typeface="Arial"/>
              </a:rPr>
              <a:t>WHY IT IS FEASIBLE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5E953-AF38-CB0F-B2B3-50B58F24DEE9}"/>
              </a:ext>
            </a:extLst>
          </p:cNvPr>
          <p:cNvSpPr txBox="1"/>
          <p:nvPr/>
        </p:nvSpPr>
        <p:spPr>
          <a:xfrm>
            <a:off x="658368" y="2176272"/>
            <a:ext cx="278892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677F9B"/>
                </a:solidFill>
                <a:latin typeface="Arial"/>
              </a:rPr>
              <a:t>Three proof points keep the build lean
without weakening the pitch.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17D2E9-E59A-6C0B-DC9D-2659F7721373}"/>
              </a:ext>
            </a:extLst>
          </p:cNvPr>
          <p:cNvSpPr/>
          <p:nvPr/>
        </p:nvSpPr>
        <p:spPr>
          <a:xfrm>
            <a:off x="667512" y="2688336"/>
            <a:ext cx="365760" cy="36576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AAC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9E3B9-E6C2-1022-35E5-7D4EFE27915C}"/>
              </a:ext>
            </a:extLst>
          </p:cNvPr>
          <p:cNvSpPr txBox="1"/>
          <p:nvPr/>
        </p:nvSpPr>
        <p:spPr>
          <a:xfrm>
            <a:off x="667512" y="2770632"/>
            <a:ext cx="36576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193F6F"/>
                </a:solidFill>
                <a:latin typeface="Arial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F28462-AE80-46CE-E2EA-91C9292C73E6}"/>
              </a:ext>
            </a:extLst>
          </p:cNvPr>
          <p:cNvSpPr txBox="1"/>
          <p:nvPr/>
        </p:nvSpPr>
        <p:spPr>
          <a:xfrm>
            <a:off x="1115568" y="2706624"/>
            <a:ext cx="228600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222D3A"/>
                </a:solidFill>
                <a:latin typeface="Arial"/>
              </a:rPr>
              <a:t>Deploy now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7B5DF4-E0E0-4261-B51D-1242D9C69160}"/>
              </a:ext>
            </a:extLst>
          </p:cNvPr>
          <p:cNvSpPr txBox="1"/>
          <p:nvPr/>
        </p:nvSpPr>
        <p:spPr>
          <a:xfrm>
            <a:off x="1115568" y="3017520"/>
            <a:ext cx="2240280" cy="3382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677F9B"/>
                </a:solidFill>
                <a:latin typeface="Arial"/>
              </a:rPr>
              <a:t>FastAPI + Supabase + Gemini Flash +
Open-Meteo → free-tier friendly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74839A-1FA4-C407-3AAA-B2A5A89901B9}"/>
              </a:ext>
            </a:extLst>
          </p:cNvPr>
          <p:cNvSpPr/>
          <p:nvPr/>
        </p:nvSpPr>
        <p:spPr>
          <a:xfrm>
            <a:off x="667512" y="3758183"/>
            <a:ext cx="365760" cy="36576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AAC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14D462-B2C4-BCC8-107E-1BDB43558BE3}"/>
              </a:ext>
            </a:extLst>
          </p:cNvPr>
          <p:cNvSpPr txBox="1"/>
          <p:nvPr/>
        </p:nvSpPr>
        <p:spPr>
          <a:xfrm>
            <a:off x="667512" y="3840479"/>
            <a:ext cx="36576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193F6F"/>
                </a:solidFill>
                <a:latin typeface="Arial"/>
              </a:rPr>
              <a:t>02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496349-A17E-AE54-4BC2-FAB4069642B5}"/>
              </a:ext>
            </a:extLst>
          </p:cNvPr>
          <p:cNvSpPr txBox="1"/>
          <p:nvPr/>
        </p:nvSpPr>
        <p:spPr>
          <a:xfrm>
            <a:off x="1115568" y="3776471"/>
            <a:ext cx="228600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222D3A"/>
                </a:solidFill>
                <a:latin typeface="Arial"/>
              </a:rPr>
              <a:t>Low compute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ABB35A-3285-8F1E-AFF2-BE7E28CEC7E8}"/>
              </a:ext>
            </a:extLst>
          </p:cNvPr>
          <p:cNvSpPr txBox="1"/>
          <p:nvPr/>
        </p:nvSpPr>
        <p:spPr>
          <a:xfrm>
            <a:off x="1115568" y="4087368"/>
            <a:ext cx="2240280" cy="3382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677F9B"/>
                </a:solidFill>
                <a:latin typeface="Arial"/>
              </a:rPr>
              <a:t>Lightweight Python logic
→ target response latency &lt; 1.5 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88972A-00FE-7B51-1A75-F0FB249B3950}"/>
              </a:ext>
            </a:extLst>
          </p:cNvPr>
          <p:cNvSpPr/>
          <p:nvPr/>
        </p:nvSpPr>
        <p:spPr>
          <a:xfrm>
            <a:off x="667512" y="4828031"/>
            <a:ext cx="365760" cy="365760"/>
          </a:xfrm>
          <a:prstGeom prst="ellipse">
            <a:avLst/>
          </a:prstGeom>
          <a:solidFill>
            <a:srgbClr val="EBF3FB"/>
          </a:solidFill>
          <a:ln w="12700">
            <a:solidFill>
              <a:srgbClr val="AAC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FAE6A7-E865-C265-0939-5D06CECA0269}"/>
              </a:ext>
            </a:extLst>
          </p:cNvPr>
          <p:cNvSpPr txBox="1"/>
          <p:nvPr/>
        </p:nvSpPr>
        <p:spPr>
          <a:xfrm>
            <a:off x="667512" y="4910327"/>
            <a:ext cx="36576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193F6F"/>
                </a:solidFill>
                <a:latin typeface="Arial"/>
              </a:rPr>
              <a:t>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B4E9FC-190A-6FA8-FCDF-9C0F9C2DFBE6}"/>
              </a:ext>
            </a:extLst>
          </p:cNvPr>
          <p:cNvSpPr txBox="1"/>
          <p:nvPr/>
        </p:nvSpPr>
        <p:spPr>
          <a:xfrm>
            <a:off x="1115568" y="4846319"/>
            <a:ext cx="2286000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222D3A"/>
                </a:solidFill>
                <a:latin typeface="Arial"/>
              </a:rPr>
              <a:t>Device agnostic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9C3DB-D48D-65CC-BF2C-0D821F75E3BD}"/>
              </a:ext>
            </a:extLst>
          </p:cNvPr>
          <p:cNvSpPr txBox="1"/>
          <p:nvPr/>
        </p:nvSpPr>
        <p:spPr>
          <a:xfrm>
            <a:off x="1115568" y="5157216"/>
            <a:ext cx="2240280" cy="3382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677F9B"/>
                </a:solidFill>
                <a:latin typeface="Arial"/>
              </a:rPr>
              <a:t>Responsive web + browser Web APIs
→ no app-store download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D323C4-7CB5-762A-4B42-DD58FA8C1EDC}"/>
              </a:ext>
            </a:extLst>
          </p:cNvPr>
          <p:cNvSpPr txBox="1"/>
          <p:nvPr/>
        </p:nvSpPr>
        <p:spPr>
          <a:xfrm>
            <a:off x="4005072" y="1636776"/>
            <a:ext cx="3749039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93F6F"/>
                </a:solidFill>
                <a:latin typeface="Arial"/>
              </a:rPr>
              <a:t>RISK → MITIGATION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68BAB6-2AF2-0D16-0972-CD1B6575FC0E}"/>
              </a:ext>
            </a:extLst>
          </p:cNvPr>
          <p:cNvSpPr txBox="1"/>
          <p:nvPr/>
        </p:nvSpPr>
        <p:spPr>
          <a:xfrm>
            <a:off x="4005072" y="1956816"/>
            <a:ext cx="4937760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677F9B"/>
                </a:solidFill>
                <a:latin typeface="Arial"/>
              </a:rPr>
              <a:t>Design choices are paired directly with the failure modes judges will care about.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92F0C8-987D-7C24-64BA-DBEAD3769359}"/>
              </a:ext>
            </a:extLst>
          </p:cNvPr>
          <p:cNvSpPr/>
          <p:nvPr/>
        </p:nvSpPr>
        <p:spPr>
          <a:xfrm>
            <a:off x="4005072" y="2350008"/>
            <a:ext cx="2212848" cy="768096"/>
          </a:xfrm>
          <a:prstGeom prst="rect">
            <a:avLst/>
          </a:prstGeom>
          <a:solidFill>
            <a:srgbClr val="FDF4F2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D5E20D-6686-F39D-376E-A5478C546761}"/>
              </a:ext>
            </a:extLst>
          </p:cNvPr>
          <p:cNvSpPr txBox="1"/>
          <p:nvPr/>
        </p:nvSpPr>
        <p:spPr>
          <a:xfrm>
            <a:off x="4178808" y="2487168"/>
            <a:ext cx="5943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D95B4E"/>
                </a:solidFill>
                <a:latin typeface="Arial"/>
              </a:rPr>
              <a:t>RISK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7C9936-5542-8D37-F3B7-2F0957E72E76}"/>
              </a:ext>
            </a:extLst>
          </p:cNvPr>
          <p:cNvSpPr txBox="1"/>
          <p:nvPr/>
        </p:nvSpPr>
        <p:spPr>
          <a:xfrm>
            <a:off x="4178808" y="2660903"/>
            <a:ext cx="17830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A"/>
                </a:solidFill>
                <a:latin typeface="Arial"/>
              </a:rPr>
              <a:t>LLM hallucination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97923A-8EEF-022E-8565-6D30DA94A178}"/>
              </a:ext>
            </a:extLst>
          </p:cNvPr>
          <p:cNvSpPr txBox="1"/>
          <p:nvPr/>
        </p:nvSpPr>
        <p:spPr>
          <a:xfrm>
            <a:off x="4178808" y="2880360"/>
            <a:ext cx="182880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Wrong temperature / unsafe advice</a:t>
            </a:r>
          </a:p>
        </p:txBody>
      </p:sp>
      <p:sp>
        <p:nvSpPr>
          <p:cNvPr id="52" name="Right Arrow 32">
            <a:extLst>
              <a:ext uri="{FF2B5EF4-FFF2-40B4-BE49-F238E27FC236}">
                <a16:creationId xmlns:a16="http://schemas.microsoft.com/office/drawing/2014/main" id="{886F13BA-E364-CF73-B0FD-36F0A48691BE}"/>
              </a:ext>
            </a:extLst>
          </p:cNvPr>
          <p:cNvSpPr/>
          <p:nvPr/>
        </p:nvSpPr>
        <p:spPr>
          <a:xfrm>
            <a:off x="6382512" y="2596896"/>
            <a:ext cx="347472" cy="292608"/>
          </a:xfrm>
          <a:prstGeom prst="rightArrow">
            <a:avLst/>
          </a:prstGeom>
          <a:solidFill>
            <a:srgbClr val="9F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E373E5A-73DB-5454-6352-F1F080238C23}"/>
              </a:ext>
            </a:extLst>
          </p:cNvPr>
          <p:cNvSpPr/>
          <p:nvPr/>
        </p:nvSpPr>
        <p:spPr>
          <a:xfrm>
            <a:off x="6793992" y="2350008"/>
            <a:ext cx="2377440" cy="768096"/>
          </a:xfrm>
          <a:prstGeom prst="rect">
            <a:avLst/>
          </a:prstGeom>
          <a:solidFill>
            <a:srgbClr val="EEF8F7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28316D-29A9-D5C6-81D0-3563ADA26966}"/>
              </a:ext>
            </a:extLst>
          </p:cNvPr>
          <p:cNvSpPr txBox="1"/>
          <p:nvPr/>
        </p:nvSpPr>
        <p:spPr>
          <a:xfrm>
            <a:off x="6976872" y="2487168"/>
            <a:ext cx="10515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318690"/>
                </a:solidFill>
                <a:latin typeface="Arial"/>
              </a:rPr>
              <a:t>MITIGATION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DEFD8D-D5CF-E353-06FE-595A7F00E971}"/>
              </a:ext>
            </a:extLst>
          </p:cNvPr>
          <p:cNvSpPr txBox="1"/>
          <p:nvPr/>
        </p:nvSpPr>
        <p:spPr>
          <a:xfrm>
            <a:off x="6976872" y="2660903"/>
            <a:ext cx="201168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90" b="1">
                <a:solidFill>
                  <a:srgbClr val="222D3A"/>
                </a:solidFill>
                <a:latin typeface="Arial"/>
              </a:rPr>
              <a:t>Deterministic grounding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8248FB-A8E4-B578-7058-191DA428C740}"/>
              </a:ext>
            </a:extLst>
          </p:cNvPr>
          <p:cNvSpPr txBox="1"/>
          <p:nvPr/>
        </p:nvSpPr>
        <p:spPr>
          <a:xfrm>
            <a:off x="6976872" y="2880360"/>
            <a:ext cx="196596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 dirty="0">
                <a:solidFill>
                  <a:srgbClr val="677F9B"/>
                </a:solidFill>
                <a:latin typeface="Arial"/>
              </a:rPr>
              <a:t>LLM can only rephrase retrieved data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6BCE03D-5CD5-D187-FAFC-6FBDAE5FFC25}"/>
              </a:ext>
            </a:extLst>
          </p:cNvPr>
          <p:cNvSpPr/>
          <p:nvPr/>
        </p:nvSpPr>
        <p:spPr>
          <a:xfrm>
            <a:off x="4005072" y="3282696"/>
            <a:ext cx="2212848" cy="768096"/>
          </a:xfrm>
          <a:prstGeom prst="rect">
            <a:avLst/>
          </a:prstGeom>
          <a:solidFill>
            <a:srgbClr val="FDF4F2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19628466-B4D9-327E-133A-6B351DD9C7E1}"/>
              </a:ext>
            </a:extLst>
          </p:cNvPr>
          <p:cNvSpPr txBox="1"/>
          <p:nvPr/>
        </p:nvSpPr>
        <p:spPr>
          <a:xfrm>
            <a:off x="4178808" y="3419856"/>
            <a:ext cx="5943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D95B4E"/>
                </a:solidFill>
                <a:latin typeface="Arial"/>
              </a:rPr>
              <a:t>RISK</a:t>
            </a:r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CD5551B5-1FDF-BF10-38D8-F120ECF0A283}"/>
              </a:ext>
            </a:extLst>
          </p:cNvPr>
          <p:cNvSpPr txBox="1"/>
          <p:nvPr/>
        </p:nvSpPr>
        <p:spPr>
          <a:xfrm>
            <a:off x="4178808" y="3593591"/>
            <a:ext cx="17830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A"/>
                </a:solidFill>
                <a:latin typeface="Arial"/>
              </a:rPr>
              <a:t>Rural connectivity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71874C44-1E0E-72B1-58B9-B45E3E1AA2F9}"/>
              </a:ext>
            </a:extLst>
          </p:cNvPr>
          <p:cNvSpPr txBox="1"/>
          <p:nvPr/>
        </p:nvSpPr>
        <p:spPr>
          <a:xfrm>
            <a:off x="4178808" y="3813048"/>
            <a:ext cx="182880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Patchy 2G / 3G round-trips</a:t>
            </a:r>
          </a:p>
        </p:txBody>
      </p:sp>
      <p:sp>
        <p:nvSpPr>
          <p:cNvPr id="17415" name="Right Arrow 41">
            <a:extLst>
              <a:ext uri="{FF2B5EF4-FFF2-40B4-BE49-F238E27FC236}">
                <a16:creationId xmlns:a16="http://schemas.microsoft.com/office/drawing/2014/main" id="{22D34FD8-B893-84CD-DFE4-E494A686E663}"/>
              </a:ext>
            </a:extLst>
          </p:cNvPr>
          <p:cNvSpPr/>
          <p:nvPr/>
        </p:nvSpPr>
        <p:spPr>
          <a:xfrm>
            <a:off x="6382512" y="3529584"/>
            <a:ext cx="347472" cy="292608"/>
          </a:xfrm>
          <a:prstGeom prst="rightArrow">
            <a:avLst/>
          </a:prstGeom>
          <a:solidFill>
            <a:srgbClr val="9F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53B1D76B-FBDB-A1D2-56F1-8D79940F4371}"/>
              </a:ext>
            </a:extLst>
          </p:cNvPr>
          <p:cNvSpPr/>
          <p:nvPr/>
        </p:nvSpPr>
        <p:spPr>
          <a:xfrm>
            <a:off x="6793992" y="3282696"/>
            <a:ext cx="2377440" cy="768096"/>
          </a:xfrm>
          <a:prstGeom prst="rect">
            <a:avLst/>
          </a:prstGeom>
          <a:solidFill>
            <a:srgbClr val="EEF8F7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320C4544-4A8F-6860-0299-C82072F44F4B}"/>
              </a:ext>
            </a:extLst>
          </p:cNvPr>
          <p:cNvSpPr txBox="1"/>
          <p:nvPr/>
        </p:nvSpPr>
        <p:spPr>
          <a:xfrm>
            <a:off x="6976872" y="3419856"/>
            <a:ext cx="10515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318690"/>
                </a:solidFill>
                <a:latin typeface="Arial"/>
              </a:rPr>
              <a:t>MITIGATION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D2380433-4DC3-3F81-912D-33F82684BFD8}"/>
              </a:ext>
            </a:extLst>
          </p:cNvPr>
          <p:cNvSpPr txBox="1"/>
          <p:nvPr/>
        </p:nvSpPr>
        <p:spPr>
          <a:xfrm>
            <a:off x="6976872" y="3593591"/>
            <a:ext cx="201168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90" b="1">
                <a:solidFill>
                  <a:srgbClr val="222D3A"/>
                </a:solidFill>
                <a:latin typeface="Arial"/>
              </a:rPr>
              <a:t>Cache-first offline path</a:t>
            </a: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DBFB6043-83A1-7B9A-182C-D56F88C8A93A}"/>
              </a:ext>
            </a:extLst>
          </p:cNvPr>
          <p:cNvSpPr txBox="1"/>
          <p:nvPr/>
        </p:nvSpPr>
        <p:spPr>
          <a:xfrm>
            <a:off x="6976872" y="3813048"/>
            <a:ext cx="196596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Cached forecast + emergency rules</a:t>
            </a:r>
          </a:p>
        </p:txBody>
      </p:sp>
      <p:sp>
        <p:nvSpPr>
          <p:cNvPr id="17425" name="Rectangle 17424">
            <a:extLst>
              <a:ext uri="{FF2B5EF4-FFF2-40B4-BE49-F238E27FC236}">
                <a16:creationId xmlns:a16="http://schemas.microsoft.com/office/drawing/2014/main" id="{DB96609D-F173-55EA-30B5-E3B946317B9E}"/>
              </a:ext>
            </a:extLst>
          </p:cNvPr>
          <p:cNvSpPr/>
          <p:nvPr/>
        </p:nvSpPr>
        <p:spPr>
          <a:xfrm>
            <a:off x="4005072" y="4215383"/>
            <a:ext cx="2212848" cy="768096"/>
          </a:xfrm>
          <a:prstGeom prst="rect">
            <a:avLst/>
          </a:prstGeom>
          <a:solidFill>
            <a:srgbClr val="FDF4F2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97B5DFE4-968F-D8AA-1048-B4DDF4A3945B}"/>
              </a:ext>
            </a:extLst>
          </p:cNvPr>
          <p:cNvSpPr txBox="1"/>
          <p:nvPr/>
        </p:nvSpPr>
        <p:spPr>
          <a:xfrm>
            <a:off x="4178808" y="4352544"/>
            <a:ext cx="5943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D95B4E"/>
                </a:solidFill>
                <a:latin typeface="Arial"/>
              </a:rPr>
              <a:t>RISK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F3E32E76-FCC9-4181-CD9F-5B529660DC48}"/>
              </a:ext>
            </a:extLst>
          </p:cNvPr>
          <p:cNvSpPr txBox="1"/>
          <p:nvPr/>
        </p:nvSpPr>
        <p:spPr>
          <a:xfrm>
            <a:off x="4178808" y="4526279"/>
            <a:ext cx="17830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A"/>
                </a:solidFill>
                <a:latin typeface="Arial"/>
              </a:rPr>
              <a:t>Remote data gaps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DB67B5A6-7588-EF19-637D-5A6409244912}"/>
              </a:ext>
            </a:extLst>
          </p:cNvPr>
          <p:cNvSpPr txBox="1"/>
          <p:nvPr/>
        </p:nvSpPr>
        <p:spPr>
          <a:xfrm>
            <a:off x="4178808" y="4745736"/>
            <a:ext cx="182880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Missing local weather feeds</a:t>
            </a:r>
          </a:p>
        </p:txBody>
      </p:sp>
      <p:sp>
        <p:nvSpPr>
          <p:cNvPr id="17433" name="Right Arrow 50">
            <a:extLst>
              <a:ext uri="{FF2B5EF4-FFF2-40B4-BE49-F238E27FC236}">
                <a16:creationId xmlns:a16="http://schemas.microsoft.com/office/drawing/2014/main" id="{5CA4E2BD-70FC-C76D-A124-F8F2C1F866E9}"/>
              </a:ext>
            </a:extLst>
          </p:cNvPr>
          <p:cNvSpPr/>
          <p:nvPr/>
        </p:nvSpPr>
        <p:spPr>
          <a:xfrm>
            <a:off x="6382512" y="4462271"/>
            <a:ext cx="347472" cy="292608"/>
          </a:xfrm>
          <a:prstGeom prst="rightArrow">
            <a:avLst/>
          </a:prstGeom>
          <a:solidFill>
            <a:srgbClr val="9F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ectangle 17434">
            <a:extLst>
              <a:ext uri="{FF2B5EF4-FFF2-40B4-BE49-F238E27FC236}">
                <a16:creationId xmlns:a16="http://schemas.microsoft.com/office/drawing/2014/main" id="{BC1E78EE-48FC-BA5B-F836-E758D77918BC}"/>
              </a:ext>
            </a:extLst>
          </p:cNvPr>
          <p:cNvSpPr/>
          <p:nvPr/>
        </p:nvSpPr>
        <p:spPr>
          <a:xfrm>
            <a:off x="6793992" y="4215383"/>
            <a:ext cx="2377440" cy="768096"/>
          </a:xfrm>
          <a:prstGeom prst="rect">
            <a:avLst/>
          </a:prstGeom>
          <a:solidFill>
            <a:srgbClr val="EEF8F7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AFAAACE7-FE9D-1F69-1F14-3D259553A1EA}"/>
              </a:ext>
            </a:extLst>
          </p:cNvPr>
          <p:cNvSpPr txBox="1"/>
          <p:nvPr/>
        </p:nvSpPr>
        <p:spPr>
          <a:xfrm>
            <a:off x="6976872" y="4352544"/>
            <a:ext cx="10515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318690"/>
                </a:solidFill>
                <a:latin typeface="Arial"/>
              </a:rPr>
              <a:t>MITIGATION</a:t>
            </a:r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F68DC104-97FC-01E8-B43E-9D9CB3363F32}"/>
              </a:ext>
            </a:extLst>
          </p:cNvPr>
          <p:cNvSpPr txBox="1"/>
          <p:nvPr/>
        </p:nvSpPr>
        <p:spPr>
          <a:xfrm>
            <a:off x="6976872" y="4526279"/>
            <a:ext cx="201168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90" b="1">
                <a:solidFill>
                  <a:srgbClr val="222D3A"/>
                </a:solidFill>
                <a:latin typeface="Arial"/>
              </a:rPr>
              <a:t>High-resolution fallback</a:t>
            </a: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BA3F9490-FFDE-EFAC-91ED-BBD916BCD274}"/>
              </a:ext>
            </a:extLst>
          </p:cNvPr>
          <p:cNvSpPr txBox="1"/>
          <p:nvPr/>
        </p:nvSpPr>
        <p:spPr>
          <a:xfrm>
            <a:off x="6976872" y="4745736"/>
            <a:ext cx="196596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Interpolate 1–11 km Open-Meteo grids</a:t>
            </a:r>
          </a:p>
        </p:txBody>
      </p:sp>
      <p:sp>
        <p:nvSpPr>
          <p:cNvPr id="17443" name="Rectangle 17442">
            <a:extLst>
              <a:ext uri="{FF2B5EF4-FFF2-40B4-BE49-F238E27FC236}">
                <a16:creationId xmlns:a16="http://schemas.microsoft.com/office/drawing/2014/main" id="{3A0D8BF3-D8C2-805A-AAB2-FD05487A1C27}"/>
              </a:ext>
            </a:extLst>
          </p:cNvPr>
          <p:cNvSpPr/>
          <p:nvPr/>
        </p:nvSpPr>
        <p:spPr>
          <a:xfrm>
            <a:off x="4005072" y="5148072"/>
            <a:ext cx="2212848" cy="768096"/>
          </a:xfrm>
          <a:prstGeom prst="rect">
            <a:avLst/>
          </a:prstGeom>
          <a:solidFill>
            <a:srgbClr val="FDF4F2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24613B2C-A051-4BB0-EE60-017D69143015}"/>
              </a:ext>
            </a:extLst>
          </p:cNvPr>
          <p:cNvSpPr txBox="1"/>
          <p:nvPr/>
        </p:nvSpPr>
        <p:spPr>
          <a:xfrm>
            <a:off x="4178808" y="5285232"/>
            <a:ext cx="5943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D95B4E"/>
                </a:solidFill>
                <a:latin typeface="Arial"/>
              </a:rPr>
              <a:t>RISK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DBEF9411-86A3-3EA9-9976-D01097970F8B}"/>
              </a:ext>
            </a:extLst>
          </p:cNvPr>
          <p:cNvSpPr txBox="1"/>
          <p:nvPr/>
        </p:nvSpPr>
        <p:spPr>
          <a:xfrm>
            <a:off x="4178808" y="5458968"/>
            <a:ext cx="178308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22D3A"/>
                </a:solidFill>
                <a:latin typeface="Arial"/>
              </a:rPr>
              <a:t>API bottlenecks</a:t>
            </a:r>
          </a:p>
        </p:txBody>
      </p:sp>
      <p:sp>
        <p:nvSpPr>
          <p:cNvPr id="17449" name="TextBox 17448">
            <a:extLst>
              <a:ext uri="{FF2B5EF4-FFF2-40B4-BE49-F238E27FC236}">
                <a16:creationId xmlns:a16="http://schemas.microsoft.com/office/drawing/2014/main" id="{85631E7A-9421-7FAA-91E4-D7F3B243722F}"/>
              </a:ext>
            </a:extLst>
          </p:cNvPr>
          <p:cNvSpPr txBox="1"/>
          <p:nvPr/>
        </p:nvSpPr>
        <p:spPr>
          <a:xfrm>
            <a:off x="4178808" y="5678424"/>
            <a:ext cx="182880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Traffic spikes during judging</a:t>
            </a:r>
          </a:p>
        </p:txBody>
      </p:sp>
      <p:sp>
        <p:nvSpPr>
          <p:cNvPr id="17451" name="Right Arrow 59">
            <a:extLst>
              <a:ext uri="{FF2B5EF4-FFF2-40B4-BE49-F238E27FC236}">
                <a16:creationId xmlns:a16="http://schemas.microsoft.com/office/drawing/2014/main" id="{B923DF9F-151A-5A1E-5F3C-FE40B4E86550}"/>
              </a:ext>
            </a:extLst>
          </p:cNvPr>
          <p:cNvSpPr/>
          <p:nvPr/>
        </p:nvSpPr>
        <p:spPr>
          <a:xfrm>
            <a:off x="6382512" y="5394960"/>
            <a:ext cx="347472" cy="292608"/>
          </a:xfrm>
          <a:prstGeom prst="rightArrow">
            <a:avLst/>
          </a:prstGeom>
          <a:solidFill>
            <a:srgbClr val="9F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Rectangle 17452">
            <a:extLst>
              <a:ext uri="{FF2B5EF4-FFF2-40B4-BE49-F238E27FC236}">
                <a16:creationId xmlns:a16="http://schemas.microsoft.com/office/drawing/2014/main" id="{094D519B-9A8B-9A3C-739C-C9E86A06047F}"/>
              </a:ext>
            </a:extLst>
          </p:cNvPr>
          <p:cNvSpPr/>
          <p:nvPr/>
        </p:nvSpPr>
        <p:spPr>
          <a:xfrm>
            <a:off x="6793992" y="5148072"/>
            <a:ext cx="2377440" cy="768096"/>
          </a:xfrm>
          <a:prstGeom prst="rect">
            <a:avLst/>
          </a:prstGeom>
          <a:solidFill>
            <a:srgbClr val="EEF8F7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TextBox 17454">
            <a:extLst>
              <a:ext uri="{FF2B5EF4-FFF2-40B4-BE49-F238E27FC236}">
                <a16:creationId xmlns:a16="http://schemas.microsoft.com/office/drawing/2014/main" id="{3939EE9D-F4C6-C65E-1FB5-BDF01903754A}"/>
              </a:ext>
            </a:extLst>
          </p:cNvPr>
          <p:cNvSpPr txBox="1"/>
          <p:nvPr/>
        </p:nvSpPr>
        <p:spPr>
          <a:xfrm>
            <a:off x="6976872" y="5285232"/>
            <a:ext cx="1051560" cy="1646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10" b="1">
                <a:solidFill>
                  <a:srgbClr val="318690"/>
                </a:solidFill>
                <a:latin typeface="Arial"/>
              </a:rPr>
              <a:t>MITIGATION</a:t>
            </a:r>
          </a:p>
        </p:txBody>
      </p:sp>
      <p:sp>
        <p:nvSpPr>
          <p:cNvPr id="17457" name="TextBox 17456">
            <a:extLst>
              <a:ext uri="{FF2B5EF4-FFF2-40B4-BE49-F238E27FC236}">
                <a16:creationId xmlns:a16="http://schemas.microsoft.com/office/drawing/2014/main" id="{687B577F-70D6-CEE2-C71D-CD8BACFD014D}"/>
              </a:ext>
            </a:extLst>
          </p:cNvPr>
          <p:cNvSpPr txBox="1"/>
          <p:nvPr/>
        </p:nvSpPr>
        <p:spPr>
          <a:xfrm>
            <a:off x="6976872" y="5458968"/>
            <a:ext cx="201168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90" b="1">
                <a:solidFill>
                  <a:srgbClr val="222D3A"/>
                </a:solidFill>
                <a:latin typeface="Arial"/>
              </a:rPr>
              <a:t>Dual caching + fast paths</a:t>
            </a:r>
          </a:p>
        </p:txBody>
      </p:sp>
      <p:sp>
        <p:nvSpPr>
          <p:cNvPr id="17459" name="TextBox 17458">
            <a:extLst>
              <a:ext uri="{FF2B5EF4-FFF2-40B4-BE49-F238E27FC236}">
                <a16:creationId xmlns:a16="http://schemas.microsoft.com/office/drawing/2014/main" id="{4DA21B76-BD82-03BC-9A42-3855B8449C76}"/>
              </a:ext>
            </a:extLst>
          </p:cNvPr>
          <p:cNvSpPr txBox="1"/>
          <p:nvPr/>
        </p:nvSpPr>
        <p:spPr>
          <a:xfrm>
            <a:off x="6976872" y="5678424"/>
            <a:ext cx="1965960" cy="1692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40" b="0">
                <a:solidFill>
                  <a:srgbClr val="677F9B"/>
                </a:solidFill>
                <a:latin typeface="Arial"/>
              </a:rPr>
              <a:t>Static geocoding + fewer LLM calls</a:t>
            </a:r>
          </a:p>
        </p:txBody>
      </p:sp>
      <p:sp>
        <p:nvSpPr>
          <p:cNvPr id="17461" name="Rectangle 17460">
            <a:extLst>
              <a:ext uri="{FF2B5EF4-FFF2-40B4-BE49-F238E27FC236}">
                <a16:creationId xmlns:a16="http://schemas.microsoft.com/office/drawing/2014/main" id="{4FFDF828-B8E1-9554-DE7D-32BFE303179B}"/>
              </a:ext>
            </a:extLst>
          </p:cNvPr>
          <p:cNvSpPr/>
          <p:nvPr/>
        </p:nvSpPr>
        <p:spPr>
          <a:xfrm>
            <a:off x="4005072" y="6035108"/>
            <a:ext cx="5166360" cy="429768"/>
          </a:xfrm>
          <a:prstGeom prst="rect">
            <a:avLst/>
          </a:prstGeom>
          <a:solidFill>
            <a:srgbClr val="EBF3FB"/>
          </a:solidFill>
          <a:ln w="889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TextBox 17464">
            <a:extLst>
              <a:ext uri="{FF2B5EF4-FFF2-40B4-BE49-F238E27FC236}">
                <a16:creationId xmlns:a16="http://schemas.microsoft.com/office/drawing/2014/main" id="{374D157B-D112-3978-A764-D7EC79F5AB90}"/>
              </a:ext>
            </a:extLst>
          </p:cNvPr>
          <p:cNvSpPr txBox="1"/>
          <p:nvPr/>
        </p:nvSpPr>
        <p:spPr>
          <a:xfrm>
            <a:off x="4818888" y="6106457"/>
            <a:ext cx="3310128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dirty="0">
                <a:solidFill>
                  <a:srgbClr val="222D3A"/>
                </a:solidFill>
                <a:latin typeface="Arial"/>
              </a:rPr>
              <a:t>Real data in → grounded context → safe answer out.</a:t>
            </a:r>
          </a:p>
        </p:txBody>
      </p:sp>
      <p:sp>
        <p:nvSpPr>
          <p:cNvPr id="17467" name="Rounded Rectangle 67">
            <a:extLst>
              <a:ext uri="{FF2B5EF4-FFF2-40B4-BE49-F238E27FC236}">
                <a16:creationId xmlns:a16="http://schemas.microsoft.com/office/drawing/2014/main" id="{3DED0434-E1B0-1322-7FB4-E1E10F76518B}"/>
              </a:ext>
            </a:extLst>
          </p:cNvPr>
          <p:cNvSpPr/>
          <p:nvPr/>
        </p:nvSpPr>
        <p:spPr>
          <a:xfrm>
            <a:off x="9354312" y="1588941"/>
            <a:ext cx="273962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6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TextBox 17468">
            <a:extLst>
              <a:ext uri="{FF2B5EF4-FFF2-40B4-BE49-F238E27FC236}">
                <a16:creationId xmlns:a16="http://schemas.microsoft.com/office/drawing/2014/main" id="{4D956212-BBE0-F4DB-F77A-E8F83BA25145}"/>
              </a:ext>
            </a:extLst>
          </p:cNvPr>
          <p:cNvSpPr txBox="1"/>
          <p:nvPr/>
        </p:nvSpPr>
        <p:spPr>
          <a:xfrm>
            <a:off x="9897740" y="1771253"/>
            <a:ext cx="1874519" cy="2600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30" b="1" dirty="0">
                <a:solidFill>
                  <a:srgbClr val="193F6F"/>
                </a:solidFill>
                <a:latin typeface="Arial"/>
              </a:rPr>
              <a:t>WEBSITE MOMENT</a:t>
            </a:r>
          </a:p>
        </p:txBody>
      </p:sp>
      <p:sp>
        <p:nvSpPr>
          <p:cNvPr id="17479" name="TextBox 17478">
            <a:extLst>
              <a:ext uri="{FF2B5EF4-FFF2-40B4-BE49-F238E27FC236}">
                <a16:creationId xmlns:a16="http://schemas.microsoft.com/office/drawing/2014/main" id="{77BDFDE1-2834-ECFF-A969-532E32FFB49E}"/>
              </a:ext>
            </a:extLst>
          </p:cNvPr>
          <p:cNvSpPr txBox="1"/>
          <p:nvPr/>
        </p:nvSpPr>
        <p:spPr>
          <a:xfrm>
            <a:off x="9582912" y="4928616"/>
            <a:ext cx="1856231" cy="4308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rial"/>
              </a:rPr>
              <a:t>WHAT WE ARE
ACTUALLY SHIPPING</a:t>
            </a:r>
          </a:p>
        </p:txBody>
      </p:sp>
      <p:sp>
        <p:nvSpPr>
          <p:cNvPr id="17481" name="TextBox 17480">
            <a:extLst>
              <a:ext uri="{FF2B5EF4-FFF2-40B4-BE49-F238E27FC236}">
                <a16:creationId xmlns:a16="http://schemas.microsoft.com/office/drawing/2014/main" id="{409388D2-15B0-0C77-0E54-F56304BFF5BC}"/>
              </a:ext>
            </a:extLst>
          </p:cNvPr>
          <p:cNvSpPr txBox="1"/>
          <p:nvPr/>
        </p:nvSpPr>
        <p:spPr>
          <a:xfrm>
            <a:off x="9555479" y="5401122"/>
            <a:ext cx="1883664" cy="4616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80" b="0" dirty="0">
                <a:solidFill>
                  <a:srgbClr val="FFFFFF"/>
                </a:solidFill>
                <a:latin typeface="Arial"/>
              </a:rPr>
              <a:t>Grounded chat • Hindi + English
Voice input/output • live weather
Proactive severe-weather alerts</a:t>
            </a:r>
          </a:p>
        </p:txBody>
      </p:sp>
      <p:pic>
        <p:nvPicPr>
          <p:cNvPr id="17485" name="Picture 17484">
            <a:extLst>
              <a:ext uri="{FF2B5EF4-FFF2-40B4-BE49-F238E27FC236}">
                <a16:creationId xmlns:a16="http://schemas.microsoft.com/office/drawing/2014/main" id="{D645EE1A-9310-A1CA-49E6-39BC4FB721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626" t="9271" r="24948" b="11735"/>
          <a:stretch>
            <a:fillRect/>
          </a:stretch>
        </p:blipFill>
        <p:spPr>
          <a:xfrm>
            <a:off x="9523412" y="4547939"/>
            <a:ext cx="2296243" cy="22044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96F9D-ABC5-CA17-8D43-14CFAF3505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08" t="1388" r="6430" b="8257"/>
          <a:stretch>
            <a:fillRect/>
          </a:stretch>
        </p:blipFill>
        <p:spPr>
          <a:xfrm>
            <a:off x="9438395" y="2136996"/>
            <a:ext cx="2556952" cy="198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8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E27ED48-929E-4812-D429-11B180BCD6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2613"/>
            <a:ext cx="1888641" cy="91696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</a:t>
            </a:r>
          </a:p>
          <a:p>
            <a:pPr algn="ctr"/>
            <a:r>
              <a:rPr lang="en-IN" dirty="0"/>
              <a:t>Honoured</a:t>
            </a:r>
          </a:p>
          <a:p>
            <a:pPr algn="ctr"/>
            <a:r>
              <a:rPr lang="en-IN" dirty="0"/>
              <a:t>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ECC21-9AA7-50E4-F670-BB4D3939D2B7}"/>
              </a:ext>
            </a:extLst>
          </p:cNvPr>
          <p:cNvSpPr txBox="1"/>
          <p:nvPr/>
        </p:nvSpPr>
        <p:spPr>
          <a:xfrm>
            <a:off x="206954" y="1010735"/>
            <a:ext cx="751892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  <a:latin typeface="Calibri" pitchFamily="34" charset="0"/>
              </a:rPr>
              <a:t>Impact on Target Audience</a:t>
            </a:r>
            <a:endParaRPr lang="en-IN" sz="2400" dirty="0"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Farmers:</a:t>
            </a:r>
            <a:r>
              <a:rPr lang="en-IN" dirty="0">
                <a:effectLst/>
                <a:latin typeface="Calibri" pitchFamily="34" charset="0"/>
              </a:rPr>
              <a:t> Prevents severe crop loss by providing harvest-timing guidance, sowing windows and disease alerts across 12-15 major Indian crops (Rabi &amp; Kharif).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Rural Citizens:</a:t>
            </a:r>
            <a:r>
              <a:rPr lang="en-IN" dirty="0">
                <a:effectLst/>
                <a:latin typeface="Calibri" pitchFamily="34" charset="0"/>
              </a:rPr>
              <a:t> Overcomes literacy barriers through direct voice conversations in regional Indian languages.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Disaster Management Authorities:</a:t>
            </a:r>
            <a:r>
              <a:rPr lang="en-IN" dirty="0">
                <a:effectLst/>
                <a:latin typeface="Calibri" pitchFamily="34" charset="0"/>
              </a:rPr>
              <a:t> Offers a unified, multi-region dashboard categorizing live IMD alerts alongside 10-year historical climate baselines.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General Public:</a:t>
            </a:r>
            <a:r>
              <a:rPr lang="en-IN" dirty="0">
                <a:effectLst/>
                <a:latin typeface="Calibri" pitchFamily="34" charset="0"/>
              </a:rPr>
              <a:t> Provides actionable daily commute, travel and extreme weather planning without technical jargon. </a:t>
            </a:r>
          </a:p>
          <a:p>
            <a:pPr>
              <a:buNone/>
            </a:pPr>
            <a:r>
              <a:rPr lang="en-IN" sz="2400" b="1" dirty="0">
                <a:effectLst/>
                <a:latin typeface="Calibri" pitchFamily="34" charset="0"/>
              </a:rPr>
              <a:t>Measurable Benefits</a:t>
            </a:r>
            <a:endParaRPr lang="en-IN" sz="2400" dirty="0"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Economic:</a:t>
            </a:r>
            <a:r>
              <a:rPr lang="en-IN" dirty="0">
                <a:effectLst/>
                <a:latin typeface="Calibri" pitchFamily="34" charset="0"/>
              </a:rPr>
              <a:t> Protects agricultural investments by mitigating climate risks, cutting crop failure rates, and optimizing pesticide/irrigation timing.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Social Safety:</a:t>
            </a:r>
            <a:r>
              <a:rPr lang="en-IN" dirty="0">
                <a:effectLst/>
                <a:latin typeface="Calibri" pitchFamily="34" charset="0"/>
              </a:rPr>
              <a:t> Enhances disaster readiness through early dissemination of NDMA-verified safety protocols and verified helplines (112, 1078).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Operational Efficiency:</a:t>
            </a:r>
            <a:r>
              <a:rPr lang="en-IN" dirty="0">
                <a:effectLst/>
                <a:latin typeface="Calibri" pitchFamily="34" charset="0"/>
              </a:rPr>
              <a:t> Offloads public weather inquiry loads from government meteorological </a:t>
            </a:r>
            <a:r>
              <a:rPr lang="en-IN" dirty="0" err="1">
                <a:effectLst/>
                <a:latin typeface="Calibri" pitchFamily="34" charset="0"/>
              </a:rPr>
              <a:t>centers</a:t>
            </a:r>
            <a:r>
              <a:rPr lang="en-IN" dirty="0">
                <a:effectLst/>
                <a:latin typeface="Calibri" pitchFamily="34" charset="0"/>
              </a:rPr>
              <a:t> through automated self-service.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Environmental Sustainability:</a:t>
            </a:r>
            <a:r>
              <a:rPr lang="en-IN" dirty="0">
                <a:effectLst/>
                <a:latin typeface="Calibri" pitchFamily="34" charset="0"/>
              </a:rPr>
              <a:t> Fosters climate-resilient farming practices through historical trend tracking and conservation-friendly crop cycles. </a:t>
            </a:r>
            <a:endParaRPr lang="en-IN" dirty="0">
              <a:effectLst/>
              <a:latin typeface="Google Sans Tex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D25E67-A7FE-22F1-2216-3E3C3A214F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2" t="16089" r="50016" b="7971"/>
          <a:stretch>
            <a:fillRect/>
          </a:stretch>
        </p:blipFill>
        <p:spPr>
          <a:xfrm>
            <a:off x="8333353" y="1068729"/>
            <a:ext cx="3013158" cy="265853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1BB77C-F8DE-4939-9C77-6F77770E49D2}"/>
              </a:ext>
            </a:extLst>
          </p:cNvPr>
          <p:cNvSpPr/>
          <p:nvPr/>
        </p:nvSpPr>
        <p:spPr>
          <a:xfrm>
            <a:off x="7551964" y="3853543"/>
            <a:ext cx="4561067" cy="29794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400" b="1" dirty="0"/>
              <a:t>Supporting fact : NCAER 2020 Survey Validation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High Adoption Rate:</a:t>
            </a:r>
            <a:r>
              <a:rPr lang="en-IN" sz="1400" dirty="0"/>
              <a:t> 98% of surveyed Indian farmers across 121 districts modified at least one agricultural practice (such as changing crop varieties or managing irrigation) when provided with timely weather advisories.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Proven Income Multiplication:</a:t>
            </a:r>
            <a:r>
              <a:rPr lang="en-IN" sz="1400" dirty="0"/>
              <a:t> Farming households that adopted weather-based advisories saw their average annual income increase from ₹1.98 Lakh to ₹3.02 Lakh.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Macro-Economic Scale:</a:t>
            </a:r>
            <a:r>
              <a:rPr lang="en-IN" sz="1400" dirty="0"/>
              <a:t> Timely weather advisories generate an estimated total income gain of ₹13,331 crore per annum.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5C1ACDFE-270B-43E4-44F9-760B2D1816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9057"/>
            <a:ext cx="1888641" cy="95052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The</a:t>
            </a:r>
          </a:p>
          <a:p>
            <a:pPr algn="ctr"/>
            <a:r>
              <a:rPr lang="en-IN" dirty="0"/>
              <a:t>Honoured</a:t>
            </a:r>
          </a:p>
          <a:p>
            <a:pPr algn="ctr"/>
            <a:r>
              <a:rPr lang="en-IN" dirty="0"/>
              <a:t>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07CEC-7523-B2ED-4B89-A5290795D9B9}"/>
              </a:ext>
            </a:extLst>
          </p:cNvPr>
          <p:cNvSpPr txBox="1"/>
          <p:nvPr/>
        </p:nvSpPr>
        <p:spPr>
          <a:xfrm>
            <a:off x="717605" y="1275936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  <a:latin typeface="Calibri" pitchFamily="34" charset="0"/>
              </a:rPr>
              <a:t>Institutional Domain References</a:t>
            </a:r>
            <a:endParaRPr lang="en-IN" sz="2400" dirty="0"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itchFamily="34" charset="0"/>
              </a:rPr>
              <a:t>Indian Council of Agricultural Research (ICAR) &amp; CRIDA:</a:t>
            </a:r>
            <a:r>
              <a:rPr lang="en-IN" sz="2400" dirty="0">
                <a:effectLst/>
                <a:latin typeface="Calibri" pitchFamily="34" charset="0"/>
              </a:rPr>
              <a:t> District-level Crop Weather Calendars, pest-weather relationship matrices and stage-specific thresholds.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itchFamily="34" charset="0"/>
              </a:rPr>
              <a:t>National Disaster Management Authority (NDMA):</a:t>
            </a:r>
            <a:r>
              <a:rPr lang="en-IN" sz="2400" dirty="0">
                <a:effectLst/>
                <a:latin typeface="Calibri" pitchFamily="34" charset="0"/>
              </a:rPr>
              <a:t> Standard Operating Procedures (SOPs), verified Do’s &amp; Don’ts for cyclones, floods, heatwaves and lightning. </a:t>
            </a:r>
          </a:p>
          <a:p>
            <a:pPr>
              <a:buNone/>
            </a:pPr>
            <a:r>
              <a:rPr lang="en-IN" sz="2400" b="1" dirty="0">
                <a:effectLst/>
                <a:latin typeface="Calibri" pitchFamily="34" charset="0"/>
              </a:rPr>
              <a:t>Technical References &amp; Data Sources</a:t>
            </a:r>
            <a:endParaRPr lang="en-IN" sz="2400" dirty="0"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 err="1"/>
              <a:t>WeatherAPI</a:t>
            </a:r>
            <a:r>
              <a:rPr lang="en-IN" sz="2400" b="1" dirty="0"/>
              <a:t> + </a:t>
            </a:r>
            <a:r>
              <a:rPr lang="en-IN" sz="2400" b="1" dirty="0" err="1"/>
              <a:t>OpenMeteo</a:t>
            </a:r>
            <a:r>
              <a:rPr lang="en-IN" sz="2400" b="1" dirty="0">
                <a:effectLst/>
                <a:latin typeface="Calibri" pitchFamily="34" charset="0"/>
              </a:rPr>
              <a:t>:</a:t>
            </a:r>
            <a:r>
              <a:rPr lang="en-IN" sz="2400" dirty="0">
                <a:effectLst/>
                <a:latin typeface="Calibri" pitchFamily="34" charset="0"/>
              </a:rPr>
              <a:t> Open-access global Numerical Weather Prediction (NWP) model interpolation (ECMWF, GFS) and historical climate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itchFamily="34" charset="0"/>
              </a:rPr>
              <a:t>W3C Web APIs:</a:t>
            </a:r>
            <a:r>
              <a:rPr lang="en-IN" sz="2400" dirty="0">
                <a:effectLst/>
                <a:latin typeface="Calibri" pitchFamily="34" charset="0"/>
              </a:rPr>
              <a:t> Service Worker API, </a:t>
            </a:r>
            <a:r>
              <a:rPr lang="en-IN" sz="2400" dirty="0" err="1">
                <a:effectLst/>
                <a:latin typeface="Calibri" pitchFamily="34" charset="0"/>
              </a:rPr>
              <a:t>IndexedDB</a:t>
            </a:r>
            <a:r>
              <a:rPr lang="en-IN" sz="2400" dirty="0">
                <a:effectLst/>
                <a:latin typeface="Calibri" pitchFamily="34" charset="0"/>
              </a:rPr>
              <a:t> API and Web Speech API standards for progressive offline access and accessibility.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effectLst/>
                <a:latin typeface="Calibri" pitchFamily="34" charset="0"/>
              </a:rPr>
              <a:t>Retrieval-Augmented Generation (RAG):</a:t>
            </a:r>
            <a:r>
              <a:rPr lang="en-IN" sz="2400" dirty="0">
                <a:effectLst/>
                <a:latin typeface="Calibri" pitchFamily="34" charset="0"/>
              </a:rPr>
              <a:t> Best practices for factual consistency and structured schema outputs in production LLM workflows.</a:t>
            </a:r>
            <a:endParaRPr lang="en-IN" sz="2400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7774</TotalTime>
  <Words>1068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Google Sans Text</vt:lpstr>
      <vt:lpstr>Times New Roman</vt:lpstr>
      <vt:lpstr>TradeGothic</vt:lpstr>
      <vt:lpstr>Wingdings</vt:lpstr>
      <vt:lpstr>Office Theme</vt:lpstr>
      <vt:lpstr>SMART INDIA HACKATHON 2026</vt:lpstr>
      <vt:lpstr> WeatherGPT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Dhruv Bisht</cp:lastModifiedBy>
  <cp:revision>190</cp:revision>
  <dcterms:created xsi:type="dcterms:W3CDTF">2013-12-12T18:46:50Z</dcterms:created>
  <dcterms:modified xsi:type="dcterms:W3CDTF">2026-09-10T17:22:55Z</dcterms:modified>
  <cp:category/>
</cp:coreProperties>
</file>